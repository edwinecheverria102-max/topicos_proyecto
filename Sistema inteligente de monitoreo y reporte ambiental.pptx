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aser Arabic Heavy" charset="1" panose="00000A00000000000000"/>
      <p:regular r:id="rId17"/>
    </p:embeddedFont>
    <p:embeddedFont>
      <p:font typeface="Mardoto Bold" charset="1" panose="00000800000000000000"/>
      <p:regular r:id="rId18"/>
    </p:embeddedFont>
    <p:embeddedFont>
      <p:font typeface="Mardoto" charset="1" panose="00000500000000000000"/>
      <p:regular r:id="rId19"/>
    </p:embeddedFont>
    <p:embeddedFont>
      <p:font typeface="Montaser Arabic Bold" charset="1" panose="00000800000000000000"/>
      <p:regular r:id="rId20"/>
    </p:embeddedFont>
    <p:embeddedFont>
      <p:font typeface="Open Sans Bold" charset="1" panose="020B08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6196" y="1694718"/>
            <a:ext cx="13577011" cy="6897563"/>
            <a:chOff x="0" y="0"/>
            <a:chExt cx="3575838" cy="1816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5838" cy="1816642"/>
            </a:xfrm>
            <a:custGeom>
              <a:avLst/>
              <a:gdLst/>
              <a:ahLst/>
              <a:cxnLst/>
              <a:rect r="r" b="b" t="t" l="l"/>
              <a:pathLst>
                <a:path h="1816642" w="3575838">
                  <a:moveTo>
                    <a:pt x="0" y="0"/>
                  </a:moveTo>
                  <a:lnTo>
                    <a:pt x="3575838" y="0"/>
                  </a:lnTo>
                  <a:lnTo>
                    <a:pt x="3575838" y="1816642"/>
                  </a:lnTo>
                  <a:lnTo>
                    <a:pt x="0" y="1816642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75838" cy="1864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12780" y="3904671"/>
            <a:ext cx="14103844" cy="292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51"/>
              </a:lnSpc>
            </a:pPr>
            <a:r>
              <a:rPr lang="en-US" b="true" sz="6871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SISTEMA INTELIGENTE DE MONITOREO Y REPORTE </a:t>
            </a:r>
          </a:p>
          <a:p>
            <a:pPr algn="ctr">
              <a:lnSpc>
                <a:spcPts val="6360"/>
              </a:lnSpc>
            </a:pPr>
            <a:r>
              <a:rPr lang="en-US" b="true" sz="5171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AMBIENTAL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5236272" y="-1468692"/>
            <a:ext cx="4046056" cy="2430717"/>
            <a:chOff x="0" y="0"/>
            <a:chExt cx="1065628" cy="6401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083592" y="7768317"/>
            <a:ext cx="1445195" cy="144519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633982" y="2921837"/>
            <a:ext cx="11449610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Proyecto de Investigación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65300" y="8773257"/>
            <a:ext cx="8820037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Realizado por Problematica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16999532" y="-87300"/>
            <a:ext cx="204131" cy="1145622"/>
            <a:chOff x="0" y="0"/>
            <a:chExt cx="272175" cy="152749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32125" y="418980"/>
            <a:ext cx="11449610" cy="1790989"/>
            <a:chOff x="0" y="0"/>
            <a:chExt cx="3015535" cy="4717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5535" cy="471701"/>
            </a:xfrm>
            <a:custGeom>
              <a:avLst/>
              <a:gdLst/>
              <a:ahLst/>
              <a:cxnLst/>
              <a:rect r="r" b="b" t="t" l="l"/>
              <a:pathLst>
                <a:path h="471701" w="3015535">
                  <a:moveTo>
                    <a:pt x="0" y="0"/>
                  </a:moveTo>
                  <a:lnTo>
                    <a:pt x="3015535" y="0"/>
                  </a:lnTo>
                  <a:lnTo>
                    <a:pt x="3015535" y="471701"/>
                  </a:lnTo>
                  <a:lnTo>
                    <a:pt x="0" y="471701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15535" cy="519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-381233"/>
            <a:ext cx="1306415" cy="1409933"/>
            <a:chOff x="0" y="0"/>
            <a:chExt cx="476073" cy="513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281735" y="9258300"/>
            <a:ext cx="3653828" cy="2430717"/>
            <a:chOff x="0" y="0"/>
            <a:chExt cx="962325" cy="6401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25" cy="640189"/>
            </a:xfrm>
            <a:custGeom>
              <a:avLst/>
              <a:gdLst/>
              <a:ahLst/>
              <a:cxnLst/>
              <a:rect r="r" b="b" t="t" l="l"/>
              <a:pathLst>
                <a:path h="640189" w="962325">
                  <a:moveTo>
                    <a:pt x="0" y="0"/>
                  </a:moveTo>
                  <a:lnTo>
                    <a:pt x="962325" y="0"/>
                  </a:lnTo>
                  <a:lnTo>
                    <a:pt x="962325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62325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5400000">
            <a:off x="16433772" y="9184851"/>
            <a:ext cx="204131" cy="1145622"/>
            <a:chOff x="0" y="0"/>
            <a:chExt cx="272175" cy="152749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34" id="34"/>
          <p:cNvSpPr/>
          <p:nvPr/>
        </p:nvSpPr>
        <p:spPr>
          <a:xfrm flipH="false" flipV="false" rot="0">
            <a:off x="11049244" y="4262386"/>
            <a:ext cx="6745022" cy="3340795"/>
          </a:xfrm>
          <a:custGeom>
            <a:avLst/>
            <a:gdLst/>
            <a:ahLst/>
            <a:cxnLst/>
            <a:rect r="r" b="b" t="t" l="l"/>
            <a:pathLst>
              <a:path h="3340795" w="6745022">
                <a:moveTo>
                  <a:pt x="0" y="0"/>
                </a:moveTo>
                <a:lnTo>
                  <a:pt x="6745022" y="0"/>
                </a:lnTo>
                <a:lnTo>
                  <a:pt x="6745022" y="3340794"/>
                </a:lnTo>
                <a:lnTo>
                  <a:pt x="0" y="334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3832125" y="677583"/>
            <a:ext cx="11283067" cy="13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1"/>
              </a:lnSpc>
            </a:pPr>
            <a:r>
              <a:rPr lang="en-US" b="true" sz="8684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INTRODUCCIÓN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34906" y="4110029"/>
            <a:ext cx="7488524" cy="297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La problemática de la contaminación en México es un desafío crítico y multifacético que afecta la salud pública, la economía y la biodiversidad. A diferencia de otros países, en México la geografía y el crecimiento urbano acelerado juegan un papel determinante.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9068" y="2810580"/>
            <a:ext cx="7968313" cy="1707946"/>
            <a:chOff x="0" y="0"/>
            <a:chExt cx="2629376" cy="5635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9377" cy="563586"/>
            </a:xfrm>
            <a:custGeom>
              <a:avLst/>
              <a:gdLst/>
              <a:ahLst/>
              <a:cxnLst/>
              <a:rect r="r" b="b" t="t" l="l"/>
              <a:pathLst>
                <a:path h="563586" w="2629377">
                  <a:moveTo>
                    <a:pt x="0" y="0"/>
                  </a:moveTo>
                  <a:lnTo>
                    <a:pt x="2629377" y="0"/>
                  </a:lnTo>
                  <a:lnTo>
                    <a:pt x="2629377" y="563586"/>
                  </a:lnTo>
                  <a:lnTo>
                    <a:pt x="0" y="563586"/>
                  </a:lnTo>
                  <a:close/>
                </a:path>
              </a:pathLst>
            </a:custGeom>
            <a:ln w="104775" cap="sq">
              <a:solidFill>
                <a:srgbClr val="EDED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29376" cy="611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993077" y="-6535153"/>
            <a:ext cx="3086100" cy="12041606"/>
            <a:chOff x="0" y="0"/>
            <a:chExt cx="812800" cy="31714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77715" y="9258300"/>
            <a:ext cx="1306415" cy="1409933"/>
            <a:chOff x="0" y="0"/>
            <a:chExt cx="476073" cy="513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889506" y="9258300"/>
            <a:ext cx="4046056" cy="2430717"/>
            <a:chOff x="0" y="0"/>
            <a:chExt cx="1065628" cy="6401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56373" y="1028700"/>
            <a:ext cx="6656162" cy="7719283"/>
            <a:chOff x="0" y="0"/>
            <a:chExt cx="1031214" cy="11959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1214" cy="1195919"/>
            </a:xfrm>
            <a:custGeom>
              <a:avLst/>
              <a:gdLst/>
              <a:ahLst/>
              <a:cxnLst/>
              <a:rect r="r" b="b" t="t" l="l"/>
              <a:pathLst>
                <a:path h="1195919" w="1031214">
                  <a:moveTo>
                    <a:pt x="0" y="0"/>
                  </a:moveTo>
                  <a:lnTo>
                    <a:pt x="1031214" y="0"/>
                  </a:lnTo>
                  <a:lnTo>
                    <a:pt x="1031214" y="1195919"/>
                  </a:lnTo>
                  <a:lnTo>
                    <a:pt x="0" y="1195919"/>
                  </a:lnTo>
                  <a:close/>
                </a:path>
              </a:pathLst>
            </a:custGeom>
            <a:blipFill>
              <a:blip r:embed="rId2"/>
              <a:stretch>
                <a:fillRect l="-42606" t="0" r="-42606" b="0"/>
              </a:stretch>
            </a:blipFill>
            <a:ln w="85725" cap="sq">
              <a:solidFill>
                <a:srgbClr val="EDEDED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-5400000">
            <a:off x="1239612" y="-1000"/>
            <a:ext cx="204131" cy="1145622"/>
            <a:chOff x="0" y="0"/>
            <a:chExt cx="272175" cy="15274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5400000">
            <a:off x="16765398" y="9206655"/>
            <a:ext cx="204131" cy="1145622"/>
            <a:chOff x="0" y="0"/>
            <a:chExt cx="272175" cy="152749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36" id="36"/>
          <p:cNvSpPr txBox="true"/>
          <p:nvPr/>
        </p:nvSpPr>
        <p:spPr>
          <a:xfrm rot="0">
            <a:off x="1379068" y="3036068"/>
            <a:ext cx="7968313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b="true" sz="8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OBJETIVOS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41677" y="4912169"/>
            <a:ext cx="8005703" cy="297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D</a:t>
            </a: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esarrollar una plataforma automatizada que combine la clasificación de imágenes de 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alta precisión con el análisis de lenguaje natural para detectar, categorizar y priorizar 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reportes de contaminación ambiental en tiempo real.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6928" y="2237475"/>
            <a:ext cx="1733662" cy="1353711"/>
            <a:chOff x="0" y="0"/>
            <a:chExt cx="678958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99397" y="2339108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03557" y="3806770"/>
            <a:ext cx="6116676" cy="232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Efici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encia Técnica: El uso de aprendizaje por transferencia (Transfer Learning con MobileNetV2) permite obtener una alta precisión (alrededor del 89%) sin requerir tiempos de entrenamiento masivos ni recursos computacionales extremos.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2685" y="2237475"/>
            <a:ext cx="1733662" cy="1353711"/>
            <a:chOff x="0" y="0"/>
            <a:chExt cx="678958" cy="5301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75154" y="2339108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36024" y="3806770"/>
            <a:ext cx="6148669" cy="154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La implementación con Streamlit ofrece una interfaz gráfica limpia y fácil de usar, permitiendo que usuarios sin conocimientos técnicos suban imágenes y obtengan resultados rápidamente.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926928" y="6383096"/>
            <a:ext cx="1733662" cy="1353711"/>
            <a:chOff x="0" y="0"/>
            <a:chExt cx="678958" cy="5301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99397" y="6484730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03557" y="7939628"/>
            <a:ext cx="6116676" cy="193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El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 sistema no se limita a clasificar la imagen, sino que proporciona recomendaciones y pasos a seguir automatizados según el problema detectado, aumentando su utilidad en el mundo real.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76706" y="6383096"/>
            <a:ext cx="1733662" cy="1353711"/>
            <a:chOff x="0" y="0"/>
            <a:chExt cx="678958" cy="5301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9175" y="6484730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36024" y="7939628"/>
            <a:ext cx="6148669" cy="116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La arquitectura elegida permite iterar, corregir errores y desplegar cambios de manera muy rápida utilizando entornos en la nube.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10800000">
            <a:off x="16958223" y="-877303"/>
            <a:ext cx="3086100" cy="12041606"/>
            <a:chOff x="0" y="0"/>
            <a:chExt cx="812800" cy="31714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17539248" y="8439068"/>
            <a:ext cx="204131" cy="1145622"/>
            <a:chOff x="0" y="0"/>
            <a:chExt cx="272175" cy="1527496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48" id="48"/>
          <p:cNvSpPr txBox="true"/>
          <p:nvPr/>
        </p:nvSpPr>
        <p:spPr>
          <a:xfrm rot="0">
            <a:off x="1325867" y="401003"/>
            <a:ext cx="7968313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b="true" sz="8000">
                <a:solidFill>
                  <a:srgbClr val="2B32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FORTALEZAS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6928" y="2237475"/>
            <a:ext cx="1733662" cy="1353711"/>
            <a:chOff x="0" y="0"/>
            <a:chExt cx="678958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99397" y="2339108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03557" y="3806770"/>
            <a:ext cx="6116676" cy="193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El modelo puede ser entrenado en el futuro para detectar más de tres clases, incluyendo problemas como deforestación, contaminación del aire (humo/smog) o derrames químicos específicos.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2685" y="2237475"/>
            <a:ext cx="1733662" cy="1353711"/>
            <a:chOff x="0" y="0"/>
            <a:chExt cx="678958" cy="5301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75154" y="2339108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36024" y="3806770"/>
            <a:ext cx="6148669" cy="193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Ex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iste un gran potencial para conectar este sistema con hardware externo, como cámaras de seguridad (IoT) o drones, para realizar un monitoreo automatizado y en tiempo real sin intervención humana.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926928" y="6383096"/>
            <a:ext cx="1733662" cy="1353711"/>
            <a:chOff x="0" y="0"/>
            <a:chExt cx="678958" cy="5301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99397" y="6484730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03557" y="7939628"/>
            <a:ext cx="6116676" cy="232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Al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 abordar problemas ecológicos, el proyecto tiene un alto atractivo para ser presentado en convocatorias universitarias, gubernamentales o ante organizaciones dedicadas al cuidado del medio ambiente.</a:t>
            </a:r>
          </a:p>
          <a:p>
            <a:pPr algn="just">
              <a:lnSpc>
                <a:spcPts val="3082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9576706" y="6383096"/>
            <a:ext cx="1733662" cy="1353711"/>
            <a:chOff x="0" y="0"/>
            <a:chExt cx="678958" cy="5301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9175" y="6484730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36024" y="7939628"/>
            <a:ext cx="6148669" cy="154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La lógica del modelo es ligera, lo que abre la puerta a empaquetarlo directamente en una aplicación móvil (Android/iOS) para trabajadores de campo que reportan incidentes in situ.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10800000">
            <a:off x="16958223" y="-877303"/>
            <a:ext cx="3086100" cy="12041606"/>
            <a:chOff x="0" y="0"/>
            <a:chExt cx="812800" cy="31714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17539248" y="8439068"/>
            <a:ext cx="204131" cy="1145622"/>
            <a:chOff x="0" y="0"/>
            <a:chExt cx="272175" cy="1527496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48" id="48"/>
          <p:cNvSpPr txBox="true"/>
          <p:nvPr/>
        </p:nvSpPr>
        <p:spPr>
          <a:xfrm rot="0">
            <a:off x="1325867" y="401003"/>
            <a:ext cx="9984502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b="true" sz="8000">
                <a:solidFill>
                  <a:srgbClr val="2B32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OPORTUNIDADES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8883" y="4129337"/>
            <a:ext cx="1733662" cy="1353711"/>
            <a:chOff x="0" y="0"/>
            <a:chExt cx="678958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01352" y="4230970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05512" y="5698632"/>
            <a:ext cx="6116676" cy="232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Actualmente, e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l funcionamiento de la interfaz depende de entornos como Google Colab y proxies para mantenerse en línea, lo cual puede ser inestable para un uso de producción continuo (como los cortes de conexión experimentados anteriormente).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4640" y="4129337"/>
            <a:ext cx="1733662" cy="1353711"/>
            <a:chOff x="0" y="0"/>
            <a:chExt cx="678958" cy="5301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77109" y="4230970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37980" y="5698632"/>
            <a:ext cx="6148669" cy="154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Pa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ra procesar las imágenes y cargar la interfaz web, el usuario final necesita acceso a internet estable, lo cual puede ser un problema en zonas rurales o áreas naturales remotas.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16958223" y="-877303"/>
            <a:ext cx="3086100" cy="12041606"/>
            <a:chOff x="0" y="0"/>
            <a:chExt cx="812800" cy="31714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17539248" y="8439068"/>
            <a:ext cx="204131" cy="1145622"/>
            <a:chOff x="0" y="0"/>
            <a:chExt cx="272175" cy="152749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38" id="38"/>
          <p:cNvSpPr txBox="true"/>
          <p:nvPr/>
        </p:nvSpPr>
        <p:spPr>
          <a:xfrm rot="0">
            <a:off x="1325867" y="401003"/>
            <a:ext cx="9984502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b="true" sz="8000">
                <a:solidFill>
                  <a:srgbClr val="2B32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DEBILIDADES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6928" y="2434544"/>
            <a:ext cx="1733662" cy="1353711"/>
            <a:chOff x="0" y="0"/>
            <a:chExt cx="678958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99397" y="2536177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03557" y="4003839"/>
            <a:ext cx="6116676" cy="193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La naturaleza p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uede presentar escenarios engañosos (por ejemplo, sombras confusas o reflejos en el agua) que el modelo podría clasificar erróneamente, llevando a movilizar equipos de limpieza cuando no es necesario.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2685" y="2434544"/>
            <a:ext cx="1733662" cy="1353711"/>
            <a:chOff x="0" y="0"/>
            <a:chExt cx="678958" cy="5301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75154" y="2536177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36024" y="4003839"/>
            <a:ext cx="6148669" cy="154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Las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 herramientas gratuitas utilizadas para el entrenamiento y despliegue temporal pueden cambiar sus políticas de uso o restringir los recursos, afectando la disponibilidad del sistema.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16958223" y="-877303"/>
            <a:ext cx="3086100" cy="12041606"/>
            <a:chOff x="0" y="0"/>
            <a:chExt cx="812800" cy="31714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17539248" y="8439068"/>
            <a:ext cx="204131" cy="1145622"/>
            <a:chOff x="0" y="0"/>
            <a:chExt cx="272175" cy="152749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38" id="38"/>
          <p:cNvSpPr txBox="true"/>
          <p:nvPr/>
        </p:nvSpPr>
        <p:spPr>
          <a:xfrm rot="0">
            <a:off x="1325867" y="401003"/>
            <a:ext cx="9984502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b="true" sz="8000">
                <a:solidFill>
                  <a:srgbClr val="2B32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AMENAZAS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2926928" y="6383096"/>
            <a:ext cx="1733662" cy="1353711"/>
            <a:chOff x="0" y="0"/>
            <a:chExt cx="678958" cy="53015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499397" y="6484730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903557" y="7939628"/>
            <a:ext cx="6116676" cy="154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  <a:spcBef>
                <a:spcPct val="0"/>
              </a:spcBef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L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as dependencias o autoridades ambientales podrían mostrar resistencia a confiar en un sistema automatizado de IA en lugar del criterio humano tradicional para la toma de decisiones.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210" y="3925936"/>
            <a:ext cx="5179434" cy="11669292"/>
            <a:chOff x="0" y="0"/>
            <a:chExt cx="1364131" cy="30733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4131" cy="3073394"/>
            </a:xfrm>
            <a:custGeom>
              <a:avLst/>
              <a:gdLst/>
              <a:ahLst/>
              <a:cxnLst/>
              <a:rect r="r" b="b" t="t" l="l"/>
              <a:pathLst>
                <a:path h="3073394" w="1364131">
                  <a:moveTo>
                    <a:pt x="0" y="0"/>
                  </a:moveTo>
                  <a:lnTo>
                    <a:pt x="1364131" y="0"/>
                  </a:lnTo>
                  <a:lnTo>
                    <a:pt x="1364131" y="3073394"/>
                  </a:lnTo>
                  <a:lnTo>
                    <a:pt x="0" y="3073394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64131" cy="3121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27187" y="3925936"/>
            <a:ext cx="5790348" cy="11669292"/>
            <a:chOff x="0" y="0"/>
            <a:chExt cx="1525030" cy="30733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5030" cy="3073394"/>
            </a:xfrm>
            <a:custGeom>
              <a:avLst/>
              <a:gdLst/>
              <a:ahLst/>
              <a:cxnLst/>
              <a:rect r="r" b="b" t="t" l="l"/>
              <a:pathLst>
                <a:path h="3073394" w="1525030">
                  <a:moveTo>
                    <a:pt x="0" y="0"/>
                  </a:moveTo>
                  <a:lnTo>
                    <a:pt x="1525030" y="0"/>
                  </a:lnTo>
                  <a:lnTo>
                    <a:pt x="1525030" y="3073394"/>
                  </a:lnTo>
                  <a:lnTo>
                    <a:pt x="0" y="3073394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25030" cy="3121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00624" y="1486460"/>
            <a:ext cx="14486752" cy="2012941"/>
            <a:chOff x="0" y="0"/>
            <a:chExt cx="3815441" cy="5301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5441" cy="530157"/>
            </a:xfrm>
            <a:custGeom>
              <a:avLst/>
              <a:gdLst/>
              <a:ahLst/>
              <a:cxnLst/>
              <a:rect r="r" b="b" t="t" l="l"/>
              <a:pathLst>
                <a:path h="530157" w="3815441">
                  <a:moveTo>
                    <a:pt x="0" y="0"/>
                  </a:moveTo>
                  <a:lnTo>
                    <a:pt x="3815441" y="0"/>
                  </a:lnTo>
                  <a:lnTo>
                    <a:pt x="3815441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815441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10149" y="1795458"/>
            <a:ext cx="14486752" cy="134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8"/>
              </a:lnSpc>
            </a:pPr>
            <a:r>
              <a:rPr lang="en-US" b="true" sz="8771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METODOLOGÍA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0472" y="5833107"/>
            <a:ext cx="4334911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s</a:t>
            </a:r>
            <a:r>
              <a:rPr lang="en-US" sz="24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e utilizará el bloque de transfer Learning de PyTorch. El modelo será reentrenado para clasificar tipos de residuos o estados de cuerpos de agua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831273" y="5833107"/>
            <a:ext cx="4820302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Se utilizarán los embeddings y la técnica de normalización de vectores para agrupar reportes similares y detectar automáticamente la intención del usuario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8210" y="4632198"/>
            <a:ext cx="5829144" cy="51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058"/>
              </a:lnSpc>
              <a:buFont typeface="Arial"/>
              <a:buChar char="•"/>
            </a:pPr>
            <a:r>
              <a:rPr lang="en-US" b="true" sz="3300" u="sng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Vision artificial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45718" y="4517195"/>
            <a:ext cx="5771817" cy="102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058"/>
              </a:lnSpc>
              <a:buFont typeface="Arial"/>
              <a:buChar char="•"/>
            </a:pPr>
            <a:r>
              <a:rPr lang="en-US" b="true" sz="3300" u="sng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Procesamiento de lenguaje natural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585205" y="3925936"/>
            <a:ext cx="5790348" cy="11669292"/>
            <a:chOff x="0" y="0"/>
            <a:chExt cx="1525030" cy="30733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5030" cy="3073394"/>
            </a:xfrm>
            <a:custGeom>
              <a:avLst/>
              <a:gdLst/>
              <a:ahLst/>
              <a:cxnLst/>
              <a:rect r="r" b="b" t="t" l="l"/>
              <a:pathLst>
                <a:path h="3073394" w="1525030">
                  <a:moveTo>
                    <a:pt x="0" y="0"/>
                  </a:moveTo>
                  <a:lnTo>
                    <a:pt x="1525030" y="0"/>
                  </a:lnTo>
                  <a:lnTo>
                    <a:pt x="1525030" y="3073394"/>
                  </a:lnTo>
                  <a:lnTo>
                    <a:pt x="0" y="3073394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525030" cy="3121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070228" y="6057133"/>
            <a:ext cx="4820302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 Se empleará el modelo de difusión para generar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representaciones visuales de escenarios recuperados, sirviendo como herramienta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de visualización para planes de remediación ambiental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18942" y="4625911"/>
            <a:ext cx="5771817" cy="102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058"/>
              </a:lnSpc>
              <a:buFont typeface="Arial"/>
              <a:buChar char="•"/>
            </a:pPr>
            <a:r>
              <a:rPr lang="en-US" b="true" sz="3300" u="sng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Generación de contexto: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4655" y="4766120"/>
            <a:ext cx="4911898" cy="1878683"/>
            <a:chOff x="0" y="0"/>
            <a:chExt cx="1293669" cy="494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3669" cy="494797"/>
            </a:xfrm>
            <a:custGeom>
              <a:avLst/>
              <a:gdLst/>
              <a:ahLst/>
              <a:cxnLst/>
              <a:rect r="r" b="b" t="t" l="l"/>
              <a:pathLst>
                <a:path h="494797" w="1293669">
                  <a:moveTo>
                    <a:pt x="0" y="0"/>
                  </a:moveTo>
                  <a:lnTo>
                    <a:pt x="1293669" y="0"/>
                  </a:lnTo>
                  <a:lnTo>
                    <a:pt x="1293669" y="494797"/>
                  </a:lnTo>
                  <a:lnTo>
                    <a:pt x="0" y="494797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93669" cy="542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98841" y="5212878"/>
            <a:ext cx="3863526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 obtener un F1-score superior al 85% en la identificación 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de categorías ambientales</a:t>
            </a: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7241632" y="678285"/>
            <a:ext cx="3086100" cy="20246131"/>
            <a:chOff x="0" y="0"/>
            <a:chExt cx="812800" cy="53323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332314"/>
            </a:xfrm>
            <a:custGeom>
              <a:avLst/>
              <a:gdLst/>
              <a:ahLst/>
              <a:cxnLst/>
              <a:rect r="r" b="b" t="t" l="l"/>
              <a:pathLst>
                <a:path h="533231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5332314"/>
                  </a:lnTo>
                  <a:lnTo>
                    <a:pt x="0" y="5332314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5379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04100" y="3656292"/>
            <a:ext cx="5082453" cy="102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058"/>
              </a:lnSpc>
              <a:buFont typeface="Arial"/>
              <a:buChar char="•"/>
            </a:pPr>
            <a:r>
              <a:rPr lang="en-US" b="true" sz="3300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Precisión de clasificación: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73328" y="4766120"/>
            <a:ext cx="4911898" cy="2515832"/>
            <a:chOff x="0" y="0"/>
            <a:chExt cx="1293669" cy="662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3669" cy="662606"/>
            </a:xfrm>
            <a:custGeom>
              <a:avLst/>
              <a:gdLst/>
              <a:ahLst/>
              <a:cxnLst/>
              <a:rect r="r" b="b" t="t" l="l"/>
              <a:pathLst>
                <a:path h="662606" w="1293669">
                  <a:moveTo>
                    <a:pt x="0" y="0"/>
                  </a:moveTo>
                  <a:lnTo>
                    <a:pt x="1293669" y="0"/>
                  </a:lnTo>
                  <a:lnTo>
                    <a:pt x="1293669" y="662606"/>
                  </a:lnTo>
                  <a:lnTo>
                    <a:pt x="0" y="662606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93669" cy="71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297515" y="5212878"/>
            <a:ext cx="3863526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R</a:t>
            </a:r>
            <a:r>
              <a:rPr lang="en-US" sz="19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educción del 60% en el tiempo de procesamiento de reportes 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ciudadanos al categorizarlos automáticamente mediante el modelo de lenguaje.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02773" y="3913467"/>
            <a:ext cx="5082453" cy="51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058"/>
              </a:lnSpc>
              <a:buFont typeface="Arial"/>
              <a:buChar char="•"/>
            </a:pPr>
            <a:r>
              <a:rPr lang="en-US" b="true" sz="3300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Automatización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72002" y="4766120"/>
            <a:ext cx="4911898" cy="1878683"/>
            <a:chOff x="0" y="0"/>
            <a:chExt cx="1293669" cy="4947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3669" cy="494797"/>
            </a:xfrm>
            <a:custGeom>
              <a:avLst/>
              <a:gdLst/>
              <a:ahLst/>
              <a:cxnLst/>
              <a:rect r="r" b="b" t="t" l="l"/>
              <a:pathLst>
                <a:path h="494797" w="1293669">
                  <a:moveTo>
                    <a:pt x="0" y="0"/>
                  </a:moveTo>
                  <a:lnTo>
                    <a:pt x="1293669" y="0"/>
                  </a:lnTo>
                  <a:lnTo>
                    <a:pt x="1293669" y="494797"/>
                  </a:lnTo>
                  <a:lnTo>
                    <a:pt x="0" y="494797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293669" cy="542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96188" y="5212878"/>
            <a:ext cx="3863526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Generar una solucion al problema de acuerdo con el reporte resaltado en las imagenes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01447" y="3656292"/>
            <a:ext cx="5082453" cy="102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058"/>
              </a:lnSpc>
              <a:buFont typeface="Arial"/>
              <a:buChar char="•"/>
            </a:pPr>
            <a:r>
              <a:rPr lang="en-US" b="true" sz="3300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Visualización de Datos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74655" y="1568700"/>
            <a:ext cx="15709245" cy="2012941"/>
            <a:chOff x="0" y="0"/>
            <a:chExt cx="4137414" cy="5301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37415" cy="530157"/>
            </a:xfrm>
            <a:custGeom>
              <a:avLst/>
              <a:gdLst/>
              <a:ahLst/>
              <a:cxnLst/>
              <a:rect r="r" b="b" t="t" l="l"/>
              <a:pathLst>
                <a:path h="530157" w="4137415">
                  <a:moveTo>
                    <a:pt x="0" y="0"/>
                  </a:moveTo>
                  <a:lnTo>
                    <a:pt x="4137415" y="0"/>
                  </a:lnTo>
                  <a:lnTo>
                    <a:pt x="4137415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137414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74655" y="1891792"/>
            <a:ext cx="15709245" cy="134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8"/>
              </a:lnSpc>
            </a:pPr>
            <a:r>
              <a:rPr lang="en-US" b="true" sz="8771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RESULTADOS ESPERADOS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6396199" y="1196135"/>
            <a:ext cx="1001769" cy="1081147"/>
            <a:chOff x="0" y="0"/>
            <a:chExt cx="476073" cy="5137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5400000">
            <a:off x="17157234" y="9233841"/>
            <a:ext cx="204131" cy="1145622"/>
            <a:chOff x="0" y="0"/>
            <a:chExt cx="272175" cy="152749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735" y="1551227"/>
            <a:ext cx="10446770" cy="2229529"/>
            <a:chOff x="0" y="0"/>
            <a:chExt cx="2990772" cy="6382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0772" cy="638285"/>
            </a:xfrm>
            <a:custGeom>
              <a:avLst/>
              <a:gdLst/>
              <a:ahLst/>
              <a:cxnLst/>
              <a:rect r="r" b="b" t="t" l="l"/>
              <a:pathLst>
                <a:path h="638285" w="2990772">
                  <a:moveTo>
                    <a:pt x="0" y="0"/>
                  </a:moveTo>
                  <a:lnTo>
                    <a:pt x="2990772" y="0"/>
                  </a:lnTo>
                  <a:lnTo>
                    <a:pt x="2990772" y="638285"/>
                  </a:lnTo>
                  <a:lnTo>
                    <a:pt x="0" y="638285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90772" cy="685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61213" y="4060506"/>
            <a:ext cx="10415291" cy="2229529"/>
            <a:chOff x="0" y="0"/>
            <a:chExt cx="2981760" cy="638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81760" cy="638285"/>
            </a:xfrm>
            <a:custGeom>
              <a:avLst/>
              <a:gdLst/>
              <a:ahLst/>
              <a:cxnLst/>
              <a:rect r="r" b="b" t="t" l="l"/>
              <a:pathLst>
                <a:path h="638285" w="2981760">
                  <a:moveTo>
                    <a:pt x="0" y="0"/>
                  </a:moveTo>
                  <a:lnTo>
                    <a:pt x="2981760" y="0"/>
                  </a:lnTo>
                  <a:lnTo>
                    <a:pt x="2981760" y="638285"/>
                  </a:lnTo>
                  <a:lnTo>
                    <a:pt x="0" y="638285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981760" cy="685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92691" y="6569785"/>
            <a:ext cx="10383813" cy="2229529"/>
            <a:chOff x="0" y="0"/>
            <a:chExt cx="2972749" cy="638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2749" cy="638285"/>
            </a:xfrm>
            <a:custGeom>
              <a:avLst/>
              <a:gdLst/>
              <a:ahLst/>
              <a:cxnLst/>
              <a:rect r="r" b="b" t="t" l="l"/>
              <a:pathLst>
                <a:path h="638285" w="2972749">
                  <a:moveTo>
                    <a:pt x="0" y="0"/>
                  </a:moveTo>
                  <a:lnTo>
                    <a:pt x="2972749" y="0"/>
                  </a:lnTo>
                  <a:lnTo>
                    <a:pt x="2972749" y="638285"/>
                  </a:lnTo>
                  <a:lnTo>
                    <a:pt x="0" y="638285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972749" cy="685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65966" y="1551227"/>
            <a:ext cx="2194317" cy="2229529"/>
            <a:chOff x="0" y="0"/>
            <a:chExt cx="934127" cy="9491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4127" cy="949117"/>
            </a:xfrm>
            <a:custGeom>
              <a:avLst/>
              <a:gdLst/>
              <a:ahLst/>
              <a:cxnLst/>
              <a:rect r="r" b="b" t="t" l="l"/>
              <a:pathLst>
                <a:path h="949117" w="934127">
                  <a:moveTo>
                    <a:pt x="0" y="0"/>
                  </a:moveTo>
                  <a:lnTo>
                    <a:pt x="934127" y="0"/>
                  </a:lnTo>
                  <a:lnTo>
                    <a:pt x="934127" y="949117"/>
                  </a:lnTo>
                  <a:lnTo>
                    <a:pt x="0" y="94911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34127" cy="996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265966" y="1847904"/>
            <a:ext cx="2194317" cy="153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8"/>
              </a:lnSpc>
            </a:pPr>
            <a:r>
              <a:rPr lang="en-US" b="true" sz="9901" spc="544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265966" y="4060506"/>
            <a:ext cx="2194317" cy="2229529"/>
            <a:chOff x="0" y="0"/>
            <a:chExt cx="934127" cy="9491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4127" cy="949117"/>
            </a:xfrm>
            <a:custGeom>
              <a:avLst/>
              <a:gdLst/>
              <a:ahLst/>
              <a:cxnLst/>
              <a:rect r="r" b="b" t="t" l="l"/>
              <a:pathLst>
                <a:path h="949117" w="934127">
                  <a:moveTo>
                    <a:pt x="0" y="0"/>
                  </a:moveTo>
                  <a:lnTo>
                    <a:pt x="934127" y="0"/>
                  </a:lnTo>
                  <a:lnTo>
                    <a:pt x="934127" y="949117"/>
                  </a:lnTo>
                  <a:lnTo>
                    <a:pt x="0" y="94911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34127" cy="996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265966" y="4357183"/>
            <a:ext cx="2194317" cy="153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8"/>
              </a:lnSpc>
            </a:pPr>
            <a:r>
              <a:rPr lang="en-US" b="true" sz="9901" spc="544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265966" y="6569785"/>
            <a:ext cx="2194317" cy="2229529"/>
            <a:chOff x="0" y="0"/>
            <a:chExt cx="934127" cy="9491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4127" cy="949117"/>
            </a:xfrm>
            <a:custGeom>
              <a:avLst/>
              <a:gdLst/>
              <a:ahLst/>
              <a:cxnLst/>
              <a:rect r="r" b="b" t="t" l="l"/>
              <a:pathLst>
                <a:path h="949117" w="934127">
                  <a:moveTo>
                    <a:pt x="0" y="0"/>
                  </a:moveTo>
                  <a:lnTo>
                    <a:pt x="934127" y="0"/>
                  </a:lnTo>
                  <a:lnTo>
                    <a:pt x="934127" y="949117"/>
                  </a:lnTo>
                  <a:lnTo>
                    <a:pt x="0" y="94911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34127" cy="996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265966" y="6866461"/>
            <a:ext cx="2194317" cy="153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8"/>
              </a:lnSpc>
            </a:pPr>
            <a:r>
              <a:rPr lang="en-US" b="true" sz="9901" spc="544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36" id="36"/>
          <p:cNvSpPr txBox="true"/>
          <p:nvPr/>
        </p:nvSpPr>
        <p:spPr>
          <a:xfrm rot="0">
            <a:off x="5729735" y="2138587"/>
            <a:ext cx="1044677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Eficiencia operativa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792691" y="4684098"/>
            <a:ext cx="1044677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Soberania tecnologica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792691" y="7157144"/>
            <a:ext cx="1044677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Versatilidad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B3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26546" y="3073666"/>
            <a:ext cx="11762961" cy="1606639"/>
            <a:chOff x="0" y="0"/>
            <a:chExt cx="3881531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81531" cy="530157"/>
            </a:xfrm>
            <a:custGeom>
              <a:avLst/>
              <a:gdLst/>
              <a:ahLst/>
              <a:cxnLst/>
              <a:rect r="r" b="b" t="t" l="l"/>
              <a:pathLst>
                <a:path h="530157" w="3881531">
                  <a:moveTo>
                    <a:pt x="0" y="0"/>
                  </a:moveTo>
                  <a:lnTo>
                    <a:pt x="3881531" y="0"/>
                  </a:lnTo>
                  <a:lnTo>
                    <a:pt x="3881531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EDED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81531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26546" y="3249288"/>
            <a:ext cx="11743597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b="true" sz="8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CONCLUSIONES</a:t>
            </a:r>
          </a:p>
        </p:txBody>
      </p:sp>
      <p:grpSp>
        <p:nvGrpSpPr>
          <p:cNvPr name="Group 6" id="6"/>
          <p:cNvGrpSpPr/>
          <p:nvPr/>
        </p:nvGrpSpPr>
        <p:grpSpPr>
          <a:xfrm rot="5400000">
            <a:off x="1993077" y="-6535153"/>
            <a:ext cx="3086100" cy="12041606"/>
            <a:chOff x="0" y="0"/>
            <a:chExt cx="812800" cy="31714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77715" y="9258300"/>
            <a:ext cx="1306415" cy="1409933"/>
            <a:chOff x="0" y="0"/>
            <a:chExt cx="476073" cy="5137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889506" y="9258300"/>
            <a:ext cx="4046056" cy="2430717"/>
            <a:chOff x="0" y="0"/>
            <a:chExt cx="1065628" cy="6401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126546" y="5229079"/>
            <a:ext cx="11743597" cy="297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La integración de modelos de IA preentrenados y su ajuste fino demuestra ser una ruta eficiente y de bajo costo computacional para resolver problemas sociales complejos. El uso de arquitecturas robustas como ResNet y BERT, garantiza que el sistema sea escalable y capaz de manejar grandes volúmenes de datos con una alta confiabilidad técnica.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5400000">
            <a:off x="1499445" y="-1000"/>
            <a:ext cx="204131" cy="1145622"/>
            <a:chOff x="0" y="0"/>
            <a:chExt cx="272175" cy="15274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5400000">
            <a:off x="16765398" y="9120930"/>
            <a:ext cx="204131" cy="1145622"/>
            <a:chOff x="0" y="0"/>
            <a:chExt cx="272175" cy="152749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DAHHd0AC4GI</dc:identifier>
  <dcterms:modified xsi:type="dcterms:W3CDTF">2011-08-01T06:04:30Z</dcterms:modified>
  <cp:revision>1</cp:revision>
  <dc:title>Sistema inteligente de monitoreo y reporte ambiental</dc:title>
</cp:coreProperties>
</file>